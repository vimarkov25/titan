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8" r:id="rId2"/>
    <p:sldId id="259" r:id="rId3"/>
    <p:sldId id="260" r:id="rId4"/>
    <p:sldId id="261" r:id="rId5"/>
    <p:sldId id="264" r:id="rId6"/>
    <p:sldId id="263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5" autoAdjust="0"/>
    <p:restoredTop sz="94965" autoAdjust="0"/>
  </p:normalViewPr>
  <p:slideViewPr>
    <p:cSldViewPr snapToGrid="0">
      <p:cViewPr varScale="1">
        <p:scale>
          <a:sx n="109" d="100"/>
          <a:sy n="109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F91F4C-C54A-461E-9363-2DADCC47DAC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29057B-F0A9-4867-8EFE-F15FC48A3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43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310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505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1711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0223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9333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1245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3686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462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 smtClean="0"/>
              <a:t>Щракнете, за да редактирате стила на подзаглавието в образеца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53DE-5692-47C2-97E4-8E7BC28AF8B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1A69-AED6-4F28-B73D-49570011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786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53DE-5692-47C2-97E4-8E7BC28AF8B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1A69-AED6-4F28-B73D-49570011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51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53DE-5692-47C2-97E4-8E7BC28AF8B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1A69-AED6-4F28-B73D-49570011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520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53DE-5692-47C2-97E4-8E7BC28AF8B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1A69-AED6-4F28-B73D-49570011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661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53DE-5692-47C2-97E4-8E7BC28AF8B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1A69-AED6-4F28-B73D-49570011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723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53DE-5692-47C2-97E4-8E7BC28AF8B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1A69-AED6-4F28-B73D-49570011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88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53DE-5692-47C2-97E4-8E7BC28AF8B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1A69-AED6-4F28-B73D-49570011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81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53DE-5692-47C2-97E4-8E7BC28AF8B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1A69-AED6-4F28-B73D-49570011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849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 smtClean="0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53DE-5692-47C2-97E4-8E7BC28AF8B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1A69-AED6-4F28-B73D-49570011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101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 smtClean="0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53DE-5692-47C2-97E4-8E7BC28AF8B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1A69-AED6-4F28-B73D-49570011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284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лавие и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53DE-5692-47C2-97E4-8E7BC28AF8B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1A69-AED6-4F28-B73D-49570011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731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53DE-5692-47C2-97E4-8E7BC28AF8B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1A69-AED6-4F28-B73D-49570011991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702846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ичка с им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53DE-5692-47C2-97E4-8E7BC28AF8B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1A69-AED6-4F28-B73D-49570011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4873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53DE-5692-47C2-97E4-8E7BC28AF8B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1A69-AED6-4F28-B73D-49570011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085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и с карти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 smtClean="0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 smtClean="0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 smtClean="0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53DE-5692-47C2-97E4-8E7BC28AF8B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1A69-AED6-4F28-B73D-49570011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72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53DE-5692-47C2-97E4-8E7BC28AF8B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1A69-AED6-4F28-B73D-49570011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34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53DE-5692-47C2-97E4-8E7BC28AF8B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1A69-AED6-4F28-B73D-49570011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2175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7318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B8453DE-5692-47C2-97E4-8E7BC28AF8B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E1A69-AED6-4F28-B73D-49570011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0490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3618118" cy="805118"/>
          </a:xfrm>
        </p:spPr>
        <p:txBody>
          <a:bodyPr>
            <a:noAutofit/>
          </a:bodyPr>
          <a:lstStyle/>
          <a:p>
            <a:pPr algn="ctr"/>
            <a:r>
              <a:rPr lang="en-US" sz="8800" dirty="0"/>
              <a:t>TITAN</a:t>
            </a:r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1153907" y="3674378"/>
            <a:ext cx="3618118" cy="1258348"/>
          </a:xfrm>
        </p:spPr>
        <p:txBody>
          <a:bodyPr>
            <a:noAutofit/>
          </a:bodyPr>
          <a:lstStyle/>
          <a:p>
            <a:pPr algn="ctr"/>
            <a:r>
              <a:rPr lang="ru-RU" sz="1600" dirty="0"/>
              <a:t>Концепция за активен начин на живот — спорт, движение и природа вместо дивана и </a:t>
            </a:r>
            <a:r>
              <a:rPr lang="ru-RU" sz="1600" dirty="0" err="1"/>
              <a:t>екрана</a:t>
            </a:r>
            <a:r>
              <a:rPr lang="ru-RU" sz="1600" dirty="0"/>
              <a:t>.</a:t>
            </a:r>
            <a:endParaRPr lang="en-US" sz="1600" dirty="0"/>
          </a:p>
        </p:txBody>
      </p:sp>
      <p:pic>
        <p:nvPicPr>
          <p:cNvPr id="1026" name="Picture 2" descr="Man Hiking on Lava Mountain · Free Stock Photo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5" b="2385"/>
          <a:stretch>
            <a:fillRect/>
          </a:stretch>
        </p:blipFill>
        <p:spPr bwMode="auto">
          <a:xfrm>
            <a:off x="6686026" y="0"/>
            <a:ext cx="5505974" cy="6830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Текстово поле 4"/>
          <p:cNvSpPr txBox="1"/>
          <p:nvPr/>
        </p:nvSpPr>
        <p:spPr>
          <a:xfrm>
            <a:off x="1073556" y="2885812"/>
            <a:ext cx="37788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b="1" cap="all" dirty="0"/>
              <a:t>Излез </a:t>
            </a:r>
            <a:r>
              <a:rPr lang="bg-BG" b="1" cap="all" dirty="0" smtClean="0"/>
              <a:t>навън, </a:t>
            </a:r>
            <a:r>
              <a:rPr lang="bg-BG" b="1" cap="all" dirty="0"/>
              <a:t>Стани силен</a:t>
            </a:r>
            <a:r>
              <a:rPr lang="bg-BG" sz="1600" b="1" cap="all" dirty="0"/>
              <a:t>.</a:t>
            </a:r>
          </a:p>
          <a:p>
            <a:r>
              <a:rPr lang="bg-BG" dirty="0" smtClean="0"/>
              <a:t/>
            </a:r>
            <a:br>
              <a:rPr lang="bg-BG" dirty="0" smtClean="0"/>
            </a:br>
            <a:endParaRPr lang="en-US" dirty="0"/>
          </a:p>
        </p:txBody>
      </p:sp>
      <p:sp>
        <p:nvSpPr>
          <p:cNvPr id="6" name="Текстово поле 5"/>
          <p:cNvSpPr txBox="1"/>
          <p:nvPr/>
        </p:nvSpPr>
        <p:spPr>
          <a:xfrm>
            <a:off x="83890" y="5721292"/>
            <a:ext cx="331365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600" dirty="0" smtClean="0"/>
              <a:t>Изготвено от: Камен </a:t>
            </a:r>
            <a:r>
              <a:rPr lang="bg-BG" sz="1600" dirty="0" err="1" smtClean="0"/>
              <a:t>Пенджуров</a:t>
            </a:r>
            <a:r>
              <a:rPr lang="bg-BG" sz="1600" dirty="0" smtClean="0"/>
              <a:t>, Виктор Марков,</a:t>
            </a:r>
            <a:r>
              <a:rPr lang="bg-BG" sz="1600" b="1" dirty="0"/>
              <a:t> </a:t>
            </a:r>
            <a:r>
              <a:rPr lang="bg-BG" sz="1600" dirty="0"/>
              <a:t>Димитър </a:t>
            </a:r>
            <a:r>
              <a:rPr lang="bg-BG" sz="1600" dirty="0" smtClean="0"/>
              <a:t>Георгиев,</a:t>
            </a:r>
            <a:r>
              <a:rPr lang="bg-BG" sz="1600" b="1" dirty="0"/>
              <a:t> </a:t>
            </a:r>
            <a:r>
              <a:rPr lang="bg-BG" sz="1600" dirty="0" err="1"/>
              <a:t>Тонислав</a:t>
            </a:r>
            <a:r>
              <a:rPr lang="bg-BG" sz="1600" dirty="0"/>
              <a:t> </a:t>
            </a:r>
            <a:r>
              <a:rPr lang="bg-BG" sz="1600" dirty="0" err="1" smtClean="0"/>
              <a:t>Мандалчев</a:t>
            </a:r>
            <a:endParaRPr lang="bg-BG" sz="1600" dirty="0"/>
          </a:p>
          <a:p>
            <a:endParaRPr lang="bg-BG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173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94949" y="1610687"/>
            <a:ext cx="4731391" cy="2223082"/>
          </a:xfrm>
        </p:spPr>
        <p:txBody>
          <a:bodyPr>
            <a:noAutofit/>
          </a:bodyPr>
          <a:lstStyle/>
          <a:p>
            <a:r>
              <a:rPr lang="bg-BG" sz="4800" dirty="0"/>
              <a:t>КАКВО Е</a:t>
            </a:r>
            <a:br>
              <a:rPr lang="bg-BG" sz="4800" dirty="0"/>
            </a:br>
            <a:r>
              <a:rPr lang="en-US" sz="4800" dirty="0" smtClean="0"/>
              <a:t>TITAN</a:t>
            </a:r>
            <a:r>
              <a:rPr lang="en-US" sz="4800" dirty="0"/>
              <a:t>?</a:t>
            </a:r>
            <a:br>
              <a:rPr lang="en-US" sz="4800" dirty="0"/>
            </a:br>
            <a:r>
              <a:rPr lang="en-US" sz="4000" dirty="0"/>
              <a:t/>
            </a:r>
            <a:br>
              <a:rPr lang="en-US" sz="4000" dirty="0"/>
            </a:br>
            <a:endParaRPr lang="en-US" sz="4000" dirty="0"/>
          </a:p>
        </p:txBody>
      </p:sp>
      <p:pic>
        <p:nvPicPr>
          <p:cNvPr id="8" name="Контейнер за картина 7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6681" r="26681"/>
          <a:stretch>
            <a:fillRect/>
          </a:stretch>
        </p:blipFill>
        <p:spPr>
          <a:xfrm>
            <a:off x="7491371" y="689780"/>
            <a:ext cx="4144160" cy="5560017"/>
          </a:xfrm>
          <a:prstGeom prst="rect">
            <a:avLst/>
          </a:prstGeom>
        </p:spPr>
      </p:pic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352338" y="3372374"/>
            <a:ext cx="5025005" cy="1241571"/>
          </a:xfrm>
        </p:spPr>
        <p:txBody>
          <a:bodyPr/>
          <a:lstStyle/>
          <a:p>
            <a:r>
              <a:rPr lang="ru-RU" b="1" dirty="0"/>
              <a:t>TITAN</a:t>
            </a:r>
            <a:r>
              <a:rPr lang="ru-RU" dirty="0"/>
              <a:t> е концепция, </a:t>
            </a:r>
            <a:r>
              <a:rPr lang="ru-RU" dirty="0" err="1"/>
              <a:t>която</a:t>
            </a:r>
            <a:r>
              <a:rPr lang="ru-RU" dirty="0"/>
              <a:t> </a:t>
            </a:r>
            <a:r>
              <a:rPr lang="ru-RU" dirty="0" err="1"/>
              <a:t>призовава</a:t>
            </a:r>
            <a:r>
              <a:rPr lang="ru-RU" dirty="0"/>
              <a:t> </a:t>
            </a:r>
            <a:r>
              <a:rPr lang="ru-RU" dirty="0" err="1"/>
              <a:t>младите</a:t>
            </a:r>
            <a:r>
              <a:rPr lang="ru-RU" dirty="0"/>
              <a:t> хора да оставят телефона и дивана и да </a:t>
            </a:r>
            <a:r>
              <a:rPr lang="ru-RU" dirty="0" err="1"/>
              <a:t>излязат</a:t>
            </a:r>
            <a:r>
              <a:rPr lang="ru-RU" dirty="0"/>
              <a:t> </a:t>
            </a:r>
            <a:r>
              <a:rPr lang="ru-RU" dirty="0" err="1"/>
              <a:t>навън</a:t>
            </a:r>
            <a:r>
              <a:rPr lang="ru-RU" dirty="0"/>
              <a:t>. </a:t>
            </a:r>
            <a:r>
              <a:rPr lang="ru-RU" dirty="0" err="1"/>
              <a:t>Името</a:t>
            </a:r>
            <a:r>
              <a:rPr lang="ru-RU" dirty="0"/>
              <a:t> </a:t>
            </a:r>
            <a:r>
              <a:rPr lang="ru-RU" dirty="0" err="1"/>
              <a:t>идва</a:t>
            </a:r>
            <a:r>
              <a:rPr lang="ru-RU" dirty="0"/>
              <a:t> от </a:t>
            </a:r>
            <a:r>
              <a:rPr lang="ru-RU" dirty="0" err="1"/>
              <a:t>древногръцките</a:t>
            </a:r>
            <a:r>
              <a:rPr lang="ru-RU" dirty="0"/>
              <a:t> </a:t>
            </a:r>
            <a:r>
              <a:rPr lang="ru-RU" i="1" dirty="0" err="1"/>
              <a:t>титани</a:t>
            </a:r>
            <a:r>
              <a:rPr lang="ru-RU" dirty="0"/>
              <a:t> — символ на сила, </a:t>
            </a:r>
            <a:r>
              <a:rPr lang="ru-RU" dirty="0" err="1"/>
              <a:t>издръжливост</a:t>
            </a:r>
            <a:r>
              <a:rPr lang="ru-RU" dirty="0"/>
              <a:t> и </a:t>
            </a:r>
            <a:r>
              <a:rPr lang="ru-RU" dirty="0" err="1"/>
              <a:t>природна</a:t>
            </a:r>
            <a:r>
              <a:rPr lang="ru-RU" dirty="0"/>
              <a:t> </a:t>
            </a:r>
            <a:r>
              <a:rPr lang="ru-RU" dirty="0" err="1"/>
              <a:t>мощ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9" name="Текстово поле 8"/>
          <p:cNvSpPr txBox="1"/>
          <p:nvPr/>
        </p:nvSpPr>
        <p:spPr>
          <a:xfrm>
            <a:off x="352338" y="5503178"/>
            <a:ext cx="2130803" cy="1138773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bg-BG" sz="3600" dirty="0" smtClean="0">
                <a:latin typeface="Arial Black" panose="020B0A04020102020204" pitchFamily="34" charset="0"/>
              </a:rPr>
              <a:t>01</a:t>
            </a:r>
            <a:endParaRPr lang="bg-BG" sz="3600" dirty="0">
              <a:latin typeface="Arial Black" panose="020B0A04020102020204" pitchFamily="34" charset="0"/>
            </a:endParaRPr>
          </a:p>
          <a:p>
            <a:r>
              <a:rPr lang="bg-BG" sz="1600" dirty="0" smtClean="0"/>
              <a:t>ДВИЖЕНИЕ</a:t>
            </a:r>
            <a:endParaRPr lang="bg-BG" sz="1600" dirty="0"/>
          </a:p>
          <a:p>
            <a:r>
              <a:rPr lang="bg-BG" sz="1600" dirty="0" smtClean="0"/>
              <a:t>всеки </a:t>
            </a:r>
            <a:r>
              <a:rPr lang="bg-BG" sz="1600" dirty="0"/>
              <a:t>ден</a:t>
            </a:r>
          </a:p>
        </p:txBody>
      </p:sp>
      <p:sp>
        <p:nvSpPr>
          <p:cNvPr id="11" name="Текстово поле 10"/>
          <p:cNvSpPr txBox="1"/>
          <p:nvPr/>
        </p:nvSpPr>
        <p:spPr>
          <a:xfrm>
            <a:off x="2734811" y="5503178"/>
            <a:ext cx="2139193" cy="113877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bg-BG" sz="3200" b="1" dirty="0"/>
              <a:t>02</a:t>
            </a:r>
          </a:p>
          <a:p>
            <a:r>
              <a:rPr lang="bg-BG" dirty="0"/>
              <a:t>ПРИРОДА</a:t>
            </a:r>
          </a:p>
          <a:p>
            <a:r>
              <a:rPr lang="bg-BG" dirty="0"/>
              <a:t>вместо стая</a:t>
            </a:r>
          </a:p>
        </p:txBody>
      </p:sp>
      <p:sp>
        <p:nvSpPr>
          <p:cNvPr id="12" name="Текстово поле 11"/>
          <p:cNvSpPr txBox="1"/>
          <p:nvPr/>
        </p:nvSpPr>
        <p:spPr>
          <a:xfrm>
            <a:off x="5125674" y="5503178"/>
            <a:ext cx="2130800" cy="11387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bg-BG" sz="3200" b="1" dirty="0"/>
              <a:t>03</a:t>
            </a:r>
          </a:p>
          <a:p>
            <a:r>
              <a:rPr lang="bg-BG" dirty="0"/>
              <a:t>ЗАЕДНО</a:t>
            </a:r>
          </a:p>
          <a:p>
            <a:r>
              <a:rPr lang="bg-BG" dirty="0"/>
              <a:t>с приятели</a:t>
            </a:r>
          </a:p>
        </p:txBody>
      </p:sp>
    </p:spTree>
    <p:extLst>
      <p:ext uri="{BB962C8B-B14F-4D97-AF65-F5344CB8AC3E}">
        <p14:creationId xmlns:p14="http://schemas.microsoft.com/office/powerpoint/2010/main" val="2618412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3819" y="0"/>
            <a:ext cx="12192000" cy="6858000"/>
          </a:xfrm>
          <a:prstGeom prst="rect">
            <a:avLst/>
          </a:prstGeom>
          <a:solidFill>
            <a:srgbClr val="0A1F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afb47f5f3ffa75c10d1925ccfc401e6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68"/>
            <a:ext cx="5207203" cy="685826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588204" y="1460601"/>
            <a:ext cx="6350203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0" kern="0" spc="120" dirty="0">
                <a:solidFill>
                  <a:srgbClr val="F5F1E8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ЗАСЕДНАЛИЯТ</a:t>
            </a:r>
            <a:endParaRPr lang="en-US" sz="6000" dirty="0"/>
          </a:p>
          <a:p>
            <a:r>
              <a:rPr lang="en-US" sz="6000" kern="0" spc="120" dirty="0">
                <a:solidFill>
                  <a:srgbClr val="F5F1E8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ЖИВОТ УБИВА</a:t>
            </a:r>
            <a:endParaRPr lang="en-US" sz="6000" dirty="0"/>
          </a:p>
        </p:txBody>
      </p:sp>
      <p:sp>
        <p:nvSpPr>
          <p:cNvPr id="10" name="Text 5"/>
          <p:cNvSpPr txBox="1"/>
          <p:nvPr/>
        </p:nvSpPr>
        <p:spPr>
          <a:xfrm>
            <a:off x="5588203" y="3555797"/>
            <a:ext cx="304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kern="0" spc="96" dirty="0">
                <a:latin typeface="Bebas Neue" pitchFamily="34" charset="0"/>
                <a:ea typeface="Bebas Neue" pitchFamily="34" charset="-122"/>
                <a:cs typeface="Bebas Neue" pitchFamily="34" charset="-120"/>
              </a:rPr>
              <a:t>7+ ч</a:t>
            </a:r>
            <a:endParaRPr lang="en-US" sz="4800" dirty="0"/>
          </a:p>
        </p:txBody>
      </p:sp>
      <p:sp>
        <p:nvSpPr>
          <p:cNvPr id="11" name="Text 6"/>
          <p:cNvSpPr txBox="1"/>
          <p:nvPr/>
        </p:nvSpPr>
        <p:spPr>
          <a:xfrm>
            <a:off x="5588203" y="4216603"/>
            <a:ext cx="3048000" cy="356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F5F1E8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пред екран средно на ден за тийнейджър в България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8889797" y="3555797"/>
            <a:ext cx="304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kern="0" spc="96" dirty="0">
                <a:latin typeface="Bebas Neue" pitchFamily="34" charset="0"/>
                <a:ea typeface="Bebas Neue" pitchFamily="34" charset="-122"/>
                <a:cs typeface="Bebas Neue" pitchFamily="34" charset="-120"/>
              </a:rPr>
              <a:t>38%</a:t>
            </a:r>
            <a:endParaRPr lang="en-US" sz="4800" dirty="0"/>
          </a:p>
        </p:txBody>
      </p:sp>
      <p:sp>
        <p:nvSpPr>
          <p:cNvPr id="13" name="Text 8"/>
          <p:cNvSpPr txBox="1"/>
          <p:nvPr/>
        </p:nvSpPr>
        <p:spPr>
          <a:xfrm>
            <a:off x="8889797" y="4216603"/>
            <a:ext cx="3048000" cy="356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F5F1E8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младежите не правят никакъв физически спорт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5588203" y="4826203"/>
            <a:ext cx="304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kern="0" spc="96" dirty="0">
                <a:latin typeface="Bebas Neue" pitchFamily="34" charset="0"/>
                <a:ea typeface="Bebas Neue" pitchFamily="34" charset="-122"/>
                <a:cs typeface="Bebas Neue" pitchFamily="34" charset="-120"/>
              </a:rPr>
              <a:t>1 от 3</a:t>
            </a:r>
            <a:endParaRPr lang="en-US" sz="4800" dirty="0"/>
          </a:p>
        </p:txBody>
      </p:sp>
      <p:sp>
        <p:nvSpPr>
          <p:cNvPr id="15" name="Text 10"/>
          <p:cNvSpPr txBox="1"/>
          <p:nvPr/>
        </p:nvSpPr>
        <p:spPr>
          <a:xfrm>
            <a:off x="5588203" y="5486401"/>
            <a:ext cx="3048000" cy="178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F5F1E8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страда от наднормено тегло още в училище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889797" y="5486400"/>
            <a:ext cx="3048000" cy="596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F5F1E8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намаляваща концентрация, енергия и настроение</a:t>
            </a:r>
            <a:endParaRPr lang="en-US" sz="1600" dirty="0"/>
          </a:p>
        </p:txBody>
      </p:sp>
      <p:sp>
        <p:nvSpPr>
          <p:cNvPr id="19" name="Текстово поле 18"/>
          <p:cNvSpPr txBox="1"/>
          <p:nvPr/>
        </p:nvSpPr>
        <p:spPr>
          <a:xfrm>
            <a:off x="8889797" y="4826204"/>
            <a:ext cx="2980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4800" dirty="0">
                <a:ea typeface="Bebas Neue"/>
              </a:rPr>
              <a:t>Води до:</a:t>
            </a:r>
            <a:endParaRPr lang="en-US" sz="4800" dirty="0">
              <a:latin typeface="Bebas Neue"/>
              <a:ea typeface="Bebas Neue"/>
            </a:endParaRPr>
          </a:p>
        </p:txBody>
      </p:sp>
    </p:spTree>
    <p:extLst>
      <p:ext uri="{BB962C8B-B14F-4D97-AF65-F5344CB8AC3E}">
        <p14:creationId xmlns:p14="http://schemas.microsoft.com/office/powerpoint/2010/main" val="847048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2052" y="4031393"/>
            <a:ext cx="2413406" cy="1853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429001" y="4031393"/>
            <a:ext cx="2628593" cy="1853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438595" y="4031393"/>
            <a:ext cx="2626016" cy="185318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0" descr="gen-dedup-e62128d124e5c3a8061398ad415c3da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8202" y="1016204"/>
            <a:ext cx="2438663" cy="520860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07797" y="1333805"/>
            <a:ext cx="8255203" cy="1308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kern="0" spc="108" dirty="0">
                <a:solidFill>
                  <a:srgbClr val="0F3D2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ПРИРОДАТА Е</a:t>
            </a:r>
            <a:endParaRPr lang="en-US" sz="5400" dirty="0"/>
          </a:p>
          <a:p>
            <a:r>
              <a:rPr lang="en-US" sz="5400" kern="0" spc="108" dirty="0">
                <a:solidFill>
                  <a:srgbClr val="0F3D2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НАЙ-ДОБРАТА ЗАЛА</a:t>
            </a:r>
            <a:endParaRPr lang="en-US" sz="5400" dirty="0"/>
          </a:p>
        </p:txBody>
      </p:sp>
      <p:sp>
        <p:nvSpPr>
          <p:cNvPr id="15" name="Text 12"/>
          <p:cNvSpPr txBox="1"/>
          <p:nvPr/>
        </p:nvSpPr>
        <p:spPr>
          <a:xfrm>
            <a:off x="507797" y="3111399"/>
            <a:ext cx="63502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0A1F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Чистият въздух, слънчевата светлина и природната среда дават това, което залата не може.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62000" y="4610405"/>
            <a:ext cx="228600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F3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Витамин D &amp; енергия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62000" y="4912157"/>
            <a:ext cx="2286000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A1F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Слънцето зарежда тялото, подсилва имунитета и регулира съня.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3683203" y="4610405"/>
            <a:ext cx="228600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F3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По-малко стрес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683203" y="4912157"/>
            <a:ext cx="2286000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A1F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минути сред природа намаляват хормона на стреса с до 21%.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603797" y="4610405"/>
            <a:ext cx="228600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F3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По-силно тяло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603797" y="4912157"/>
            <a:ext cx="2286000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A1F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Неравни терени активират повече мускули, отколкото бягащата пътека.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17064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7797" y="5841797"/>
            <a:ext cx="5079797" cy="641909"/>
          </a:xfrm>
          <a:prstGeom prst="rect">
            <a:avLst/>
          </a:prstGeom>
          <a:solidFill>
            <a:srgbClr val="0F3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29178404bbde1617b697ccbfc32fe1f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7797" y="381001"/>
            <a:ext cx="1270407" cy="248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kern="0" spc="160" dirty="0">
                <a:solidFill>
                  <a:srgbClr val="0F3D2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TITAN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826203" y="381000"/>
            <a:ext cx="889407" cy="13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867" dirty="0"/>
          </a:p>
        </p:txBody>
      </p:sp>
      <p:sp>
        <p:nvSpPr>
          <p:cNvPr id="7" name="Text 4"/>
          <p:cNvSpPr txBox="1"/>
          <p:nvPr/>
        </p:nvSpPr>
        <p:spPr>
          <a:xfrm>
            <a:off x="507797" y="1079601"/>
            <a:ext cx="190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1" kern="0" spc="2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01</a:t>
            </a:r>
            <a:endParaRPr lang="en-US" sz="10001" dirty="0"/>
          </a:p>
        </p:txBody>
      </p:sp>
      <p:sp>
        <p:nvSpPr>
          <p:cNvPr id="8" name="Text 5"/>
          <p:cNvSpPr txBox="1"/>
          <p:nvPr/>
        </p:nvSpPr>
        <p:spPr>
          <a:xfrm>
            <a:off x="507797" y="2412797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250" dirty="0">
                <a:solidFill>
                  <a:srgbClr val="3DDC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Спорт №1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7797" y="2730399"/>
            <a:ext cx="5080407" cy="844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0" kern="0" spc="140" dirty="0">
                <a:solidFill>
                  <a:srgbClr val="0F3D2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БЯГАНЕ</a:t>
            </a:r>
            <a:endParaRPr lang="en-US" sz="7000" dirty="0"/>
          </a:p>
        </p:txBody>
      </p:sp>
      <p:sp>
        <p:nvSpPr>
          <p:cNvPr id="10" name="Text 7"/>
          <p:cNvSpPr txBox="1"/>
          <p:nvPr/>
        </p:nvSpPr>
        <p:spPr>
          <a:xfrm>
            <a:off x="507797" y="3810000"/>
            <a:ext cx="5080407" cy="438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0A1F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Най-достъпният спорт. Нужни са ти само маратонки и желание. Парк, гора, край река — навсякъде става.</a:t>
            </a:r>
            <a:endParaRPr lang="en-US" sz="1067" dirty="0"/>
          </a:p>
        </p:txBody>
      </p:sp>
      <p:sp>
        <p:nvSpPr>
          <p:cNvPr id="11" name="Text 8"/>
          <p:cNvSpPr txBox="1"/>
          <p:nvPr/>
        </p:nvSpPr>
        <p:spPr>
          <a:xfrm>
            <a:off x="507797" y="4953000"/>
            <a:ext cx="1524000" cy="108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7" b="1" kern="0" spc="140" dirty="0">
                <a:solidFill>
                  <a:srgbClr val="0F3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Калории / час</a:t>
            </a:r>
            <a:endParaRPr lang="en-US" sz="667" dirty="0"/>
          </a:p>
        </p:txBody>
      </p:sp>
      <p:sp>
        <p:nvSpPr>
          <p:cNvPr id="12" name="Text 9"/>
          <p:cNvSpPr txBox="1"/>
          <p:nvPr/>
        </p:nvSpPr>
        <p:spPr>
          <a:xfrm>
            <a:off x="507797" y="5099305"/>
            <a:ext cx="1524000" cy="4066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kern="0" spc="64" dirty="0">
                <a:solidFill>
                  <a:srgbClr val="0F3D2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600+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2159203" y="4953000"/>
            <a:ext cx="1524000" cy="108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7" b="1" kern="0" spc="140" dirty="0">
                <a:solidFill>
                  <a:srgbClr val="0F3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Начален темп</a:t>
            </a:r>
            <a:endParaRPr lang="en-US" sz="667" dirty="0"/>
          </a:p>
        </p:txBody>
      </p:sp>
      <p:sp>
        <p:nvSpPr>
          <p:cNvPr id="14" name="Text 11"/>
          <p:cNvSpPr txBox="1"/>
          <p:nvPr/>
        </p:nvSpPr>
        <p:spPr>
          <a:xfrm>
            <a:off x="2159203" y="5099305"/>
            <a:ext cx="1524000" cy="4066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kern="0" spc="64" dirty="0">
                <a:solidFill>
                  <a:srgbClr val="0F3D2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3×30'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2159203" y="5530901"/>
            <a:ext cx="1524000" cy="108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7" dirty="0">
                <a:solidFill>
                  <a:srgbClr val="0A1F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седмично</a:t>
            </a:r>
            <a:endParaRPr lang="en-US" sz="667" dirty="0"/>
          </a:p>
        </p:txBody>
      </p:sp>
      <p:sp>
        <p:nvSpPr>
          <p:cNvPr id="16" name="Text 13"/>
          <p:cNvSpPr txBox="1"/>
          <p:nvPr/>
        </p:nvSpPr>
        <p:spPr>
          <a:xfrm>
            <a:off x="3810001" y="4953000"/>
            <a:ext cx="1778203" cy="108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7" b="1" kern="0" spc="140" dirty="0">
                <a:solidFill>
                  <a:srgbClr val="0F3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Цена</a:t>
            </a:r>
            <a:endParaRPr lang="en-US" sz="667" dirty="0"/>
          </a:p>
        </p:txBody>
      </p:sp>
      <p:sp>
        <p:nvSpPr>
          <p:cNvPr id="17" name="Text 14"/>
          <p:cNvSpPr txBox="1"/>
          <p:nvPr/>
        </p:nvSpPr>
        <p:spPr>
          <a:xfrm>
            <a:off x="3810001" y="5099305"/>
            <a:ext cx="1778203" cy="4066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kern="0" spc="64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 лв.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3810001" y="5530901"/>
            <a:ext cx="1778203" cy="108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7" dirty="0">
                <a:solidFill>
                  <a:srgbClr val="0A1F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 членска карта</a:t>
            </a:r>
            <a:endParaRPr lang="en-US" sz="667" dirty="0"/>
          </a:p>
        </p:txBody>
      </p:sp>
      <p:sp>
        <p:nvSpPr>
          <p:cNvPr id="19" name="Text 16"/>
          <p:cNvSpPr txBox="1"/>
          <p:nvPr/>
        </p:nvSpPr>
        <p:spPr>
          <a:xfrm>
            <a:off x="698601" y="5994197"/>
            <a:ext cx="4699407" cy="127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60" dirty="0" smtClean="0">
                <a:solidFill>
                  <a:srgbClr val="3DDC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800" b="1" kern="0" spc="160" dirty="0">
                <a:solidFill>
                  <a:srgbClr val="3DDC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TITAN TIP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698601" y="6159399"/>
            <a:ext cx="4699407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7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Започни с метода 1:1 — една минута бягане, една минута ходене. Постепенно увеличаваш.</a:t>
            </a:r>
            <a:endParaRPr lang="en-US" sz="867" dirty="0"/>
          </a:p>
        </p:txBody>
      </p:sp>
    </p:spTree>
    <p:extLst>
      <p:ext uri="{BB962C8B-B14F-4D97-AF65-F5344CB8AC3E}">
        <p14:creationId xmlns:p14="http://schemas.microsoft.com/office/powerpoint/2010/main" val="1891673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77000" y="4826203"/>
            <a:ext cx="1282599" cy="901599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DDC84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74203" y="4826203"/>
            <a:ext cx="1282599" cy="901599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DDC84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70797" y="4826203"/>
            <a:ext cx="1282599" cy="901599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DDC84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68000" y="4826203"/>
            <a:ext cx="1282599" cy="901599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DDC84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77000" y="5905805"/>
            <a:ext cx="5460797" cy="507797"/>
          </a:xfrm>
          <a:prstGeom prst="rect">
            <a:avLst/>
          </a:prstGeom>
          <a:solidFill>
            <a:srgbClr val="3DDC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gen-dedup-7c23d287d03de8e66884a255e23dc50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5" y="0"/>
            <a:ext cx="6096000" cy="68580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77000" y="381001"/>
            <a:ext cx="1270407" cy="248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77000" y="1079601"/>
            <a:ext cx="190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1" kern="0" spc="2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02</a:t>
            </a:r>
            <a:endParaRPr lang="en-US" sz="10001" dirty="0"/>
          </a:p>
        </p:txBody>
      </p:sp>
      <p:sp>
        <p:nvSpPr>
          <p:cNvPr id="12" name="Text 9"/>
          <p:cNvSpPr txBox="1"/>
          <p:nvPr/>
        </p:nvSpPr>
        <p:spPr>
          <a:xfrm>
            <a:off x="6477000" y="2412797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477001" y="2730399"/>
            <a:ext cx="5588203" cy="666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kern="0" spc="110" dirty="0">
                <a:solidFill>
                  <a:srgbClr val="F5F1E8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КАЛИСТЕНИКА</a:t>
            </a:r>
            <a:endParaRPr lang="en-US" sz="5400" dirty="0"/>
          </a:p>
        </p:txBody>
      </p:sp>
      <p:sp>
        <p:nvSpPr>
          <p:cNvPr id="14" name="Text 11"/>
          <p:cNvSpPr txBox="1"/>
          <p:nvPr/>
        </p:nvSpPr>
        <p:spPr>
          <a:xfrm>
            <a:off x="6477001" y="3683203"/>
            <a:ext cx="5207203" cy="438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5F1E8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Тренировка със собствено тегло на улични уреди. Всеки квартал има площадка с лостове и успоредки — безплатна зала под открито небе.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603797" y="5257800"/>
            <a:ext cx="1016203" cy="13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7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Pull-ups</a:t>
            </a:r>
            <a:endParaRPr lang="en-US" sz="867" dirty="0"/>
          </a:p>
        </p:txBody>
      </p:sp>
      <p:sp>
        <p:nvSpPr>
          <p:cNvPr id="17" name="Text 14"/>
          <p:cNvSpPr txBox="1"/>
          <p:nvPr/>
        </p:nvSpPr>
        <p:spPr>
          <a:xfrm>
            <a:off x="6603797" y="5404104"/>
            <a:ext cx="1016203" cy="108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5F1E8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гръб + бицепс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001001" y="5257800"/>
            <a:ext cx="1016203" cy="46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7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Push-ups</a:t>
            </a:r>
            <a:endParaRPr lang="en-US" sz="867" dirty="0"/>
          </a:p>
        </p:txBody>
      </p:sp>
      <p:sp>
        <p:nvSpPr>
          <p:cNvPr id="20" name="Text 17"/>
          <p:cNvSpPr txBox="1"/>
          <p:nvPr/>
        </p:nvSpPr>
        <p:spPr>
          <a:xfrm>
            <a:off x="8001001" y="5461407"/>
            <a:ext cx="1016203" cy="51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5F1E8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гърди + рамене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9398204" y="5257800"/>
            <a:ext cx="1016203" cy="13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Dips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9398204" y="5404104"/>
            <a:ext cx="1016203" cy="108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5F1E8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трицепс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801197" y="5171136"/>
            <a:ext cx="1016203" cy="13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Planks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0801197" y="5418328"/>
            <a:ext cx="1016203" cy="108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5F1E8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корем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667805" y="6032601"/>
            <a:ext cx="5080407" cy="127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60" dirty="0" smtClean="0">
                <a:solidFill>
                  <a:srgbClr val="0F3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800" b="1" kern="0" spc="160" dirty="0">
                <a:solidFill>
                  <a:srgbClr val="0F3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TITAN TIP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6667805" y="6185002"/>
            <a:ext cx="5080407" cy="165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A1F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серии × 10 повторения, 3 пъти седмично. Резултат след 4 седмици</a:t>
            </a:r>
            <a:r>
              <a:rPr lang="en-US" sz="867" dirty="0">
                <a:solidFill>
                  <a:srgbClr val="0A1F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67" dirty="0"/>
          </a:p>
        </p:txBody>
      </p:sp>
    </p:spTree>
    <p:extLst>
      <p:ext uri="{BB962C8B-B14F-4D97-AF65-F5344CB8AC3E}">
        <p14:creationId xmlns:p14="http://schemas.microsoft.com/office/powerpoint/2010/main" val="4099566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7797" y="6222797"/>
            <a:ext cx="4826203" cy="507797"/>
          </a:xfrm>
          <a:prstGeom prst="rect">
            <a:avLst/>
          </a:prstGeom>
          <a:solidFill>
            <a:srgbClr val="0F3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8d3c0a26b37fe18978628810854494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203" y="0"/>
            <a:ext cx="6604000" cy="6858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7797" y="1079601"/>
            <a:ext cx="190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1" kern="0" spc="200" dirty="0" smtClean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</a:t>
            </a:r>
            <a:r>
              <a:rPr lang="bg-BG" sz="10001" kern="0" spc="200" dirty="0" smtClean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3</a:t>
            </a:r>
            <a:endParaRPr lang="en-US" sz="10001" dirty="0"/>
          </a:p>
        </p:txBody>
      </p:sp>
      <p:sp>
        <p:nvSpPr>
          <p:cNvPr id="9" name="Text 6"/>
          <p:cNvSpPr txBox="1"/>
          <p:nvPr/>
        </p:nvSpPr>
        <p:spPr>
          <a:xfrm>
            <a:off x="507797" y="2730399"/>
            <a:ext cx="49530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0" kern="0" spc="120" dirty="0">
                <a:solidFill>
                  <a:srgbClr val="0F3D2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ТУРИЗЪМ</a:t>
            </a:r>
            <a:endParaRPr lang="en-US" sz="6000" dirty="0"/>
          </a:p>
          <a:p>
            <a:r>
              <a:rPr lang="en-US" sz="6000" kern="0" spc="120" dirty="0">
                <a:solidFill>
                  <a:srgbClr val="0F3D2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В ПЛАНИНА</a:t>
            </a:r>
            <a:endParaRPr lang="en-US" sz="6000" dirty="0"/>
          </a:p>
        </p:txBody>
      </p:sp>
      <p:sp>
        <p:nvSpPr>
          <p:cNvPr id="10" name="Text 7"/>
          <p:cNvSpPr txBox="1"/>
          <p:nvPr/>
        </p:nvSpPr>
        <p:spPr>
          <a:xfrm>
            <a:off x="507797" y="4508601"/>
            <a:ext cx="4826203" cy="438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0A1F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България е създадена за хайкинг. Рила, Пирин, Стара планина — на 1-2 часа от всеки голям град те чакат върхове, езера и хижи.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07797" y="5524805"/>
            <a:ext cx="1270407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kern="0" spc="54" dirty="0">
                <a:solidFill>
                  <a:srgbClr val="0F3D2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7</a:t>
            </a:r>
            <a:endParaRPr lang="en-US" sz="2667" dirty="0"/>
          </a:p>
        </p:txBody>
      </p:sp>
      <p:sp>
        <p:nvSpPr>
          <p:cNvPr id="12" name="Text 9"/>
          <p:cNvSpPr txBox="1"/>
          <p:nvPr/>
        </p:nvSpPr>
        <p:spPr>
          <a:xfrm>
            <a:off x="507797" y="5893004"/>
            <a:ext cx="1270407" cy="108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70" dirty="0">
                <a:solidFill>
                  <a:srgbClr val="0A1F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Рилски езера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905000" y="5524805"/>
            <a:ext cx="1524000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kern="0" spc="54" dirty="0">
                <a:solidFill>
                  <a:srgbClr val="0F3D2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2925м</a:t>
            </a:r>
            <a:endParaRPr lang="en-US" sz="2667" dirty="0"/>
          </a:p>
        </p:txBody>
      </p:sp>
      <p:sp>
        <p:nvSpPr>
          <p:cNvPr id="14" name="Text 11"/>
          <p:cNvSpPr txBox="1"/>
          <p:nvPr/>
        </p:nvSpPr>
        <p:spPr>
          <a:xfrm>
            <a:off x="1905000" y="5893004"/>
            <a:ext cx="1524000" cy="108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70" dirty="0">
                <a:solidFill>
                  <a:srgbClr val="0A1F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Връх Мусала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3555797" y="5524805"/>
            <a:ext cx="1778203" cy="34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kern="0" spc="54" dirty="0" smtClean="0">
                <a:solidFill>
                  <a:srgbClr val="0F3D2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400</a:t>
            </a:r>
            <a:endParaRPr lang="en-US" sz="2667" dirty="0"/>
          </a:p>
        </p:txBody>
      </p:sp>
      <p:sp>
        <p:nvSpPr>
          <p:cNvPr id="16" name="Text 13"/>
          <p:cNvSpPr txBox="1"/>
          <p:nvPr/>
        </p:nvSpPr>
        <p:spPr>
          <a:xfrm>
            <a:off x="3555797" y="5893004"/>
            <a:ext cx="1778203" cy="108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70" dirty="0">
                <a:solidFill>
                  <a:srgbClr val="0A1F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Маркирани пътеки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98602" y="6350203"/>
            <a:ext cx="4445203" cy="127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60" dirty="0" smtClean="0">
                <a:solidFill>
                  <a:srgbClr val="3DDC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800" b="1" kern="0" spc="160" dirty="0">
                <a:solidFill>
                  <a:srgbClr val="3DDC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 комплект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698602" y="6502603"/>
            <a:ext cx="44452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Удобни </a:t>
            </a:r>
            <a:r>
              <a:rPr lang="en-US" sz="800" dirty="0" err="1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обувки</a:t>
            </a:r>
            <a:r>
              <a:rPr lang="en-US" sz="8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bg-BG" sz="8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</a:t>
            </a:r>
            <a:r>
              <a:rPr lang="en-US" sz="800" dirty="0" smtClean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8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Вода 1.5л </a:t>
            </a:r>
            <a:r>
              <a:rPr lang="bg-BG" sz="8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</a:t>
            </a:r>
            <a:r>
              <a:rPr lang="en-US" sz="800" dirty="0" smtClean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800" dirty="0" err="1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Шапка</a:t>
            </a:r>
            <a:r>
              <a:rPr lang="en-US" sz="8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bg-BG" sz="8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065912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5169" y="-75590"/>
            <a:ext cx="12262338" cy="6933590"/>
          </a:xfrm>
          <a:prstGeom prst="rect">
            <a:avLst/>
          </a:prstGeom>
          <a:solidFill>
            <a:srgbClr val="F5F1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7797" y="3302204"/>
            <a:ext cx="1778203" cy="507797"/>
          </a:xfrm>
          <a:prstGeom prst="rect">
            <a:avLst/>
          </a:prstGeom>
          <a:solidFill>
            <a:srgbClr val="3DDC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22797" y="3302204"/>
            <a:ext cx="2159203" cy="507797"/>
          </a:xfrm>
          <a:prstGeom prst="rect">
            <a:avLst/>
          </a:prstGeom>
          <a:solidFill>
            <a:srgbClr val="1E88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gen-dedup-288152abf201c31d9f8c960d9e95f6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97" y="3302203"/>
            <a:ext cx="5588203" cy="2668272"/>
          </a:xfrm>
          <a:prstGeom prst="rect">
            <a:avLst/>
          </a:prstGeom>
        </p:spPr>
      </p:pic>
      <p:pic>
        <p:nvPicPr>
          <p:cNvPr id="7" name="Image 1" descr="gen-dedup-c36168f9f75a2ce20032c205a6c3698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2797" y="3302203"/>
            <a:ext cx="5460797" cy="266782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07797" y="1203351"/>
            <a:ext cx="10795407" cy="1403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800" kern="0" spc="116" dirty="0">
                <a:solidFill>
                  <a:srgbClr val="0F3D2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ОЩЕ ДВА НАЧИНА</a:t>
            </a:r>
            <a:endParaRPr lang="en-US" sz="5800" dirty="0"/>
          </a:p>
          <a:p>
            <a:r>
              <a:rPr lang="en-US" sz="5800" kern="0" spc="116" dirty="0">
                <a:solidFill>
                  <a:srgbClr val="0F3D2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ДА БЪДЕШ ТИТАН</a:t>
            </a:r>
            <a:endParaRPr lang="en-US" sz="5800" dirty="0"/>
          </a:p>
        </p:txBody>
      </p:sp>
      <p:sp>
        <p:nvSpPr>
          <p:cNvPr id="12" name="Text 8"/>
          <p:cNvSpPr txBox="1"/>
          <p:nvPr/>
        </p:nvSpPr>
        <p:spPr>
          <a:xfrm>
            <a:off x="698601" y="3429001"/>
            <a:ext cx="152400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kern="0" spc="40" dirty="0" smtClean="0">
                <a:solidFill>
                  <a:srgbClr val="0F3D2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</a:t>
            </a:r>
            <a:r>
              <a:rPr lang="bg-BG" sz="2000" kern="0" spc="40" dirty="0" smtClean="0">
                <a:solidFill>
                  <a:srgbClr val="0F3D2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4</a:t>
            </a:r>
            <a:r>
              <a:rPr lang="en-US" sz="2000" kern="0" spc="40" dirty="0" smtClean="0">
                <a:solidFill>
                  <a:srgbClr val="0F3D2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 </a:t>
            </a:r>
            <a:r>
              <a:rPr lang="en-US" sz="2000" kern="0" spc="40" dirty="0">
                <a:solidFill>
                  <a:srgbClr val="0F3D2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ЙОГА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507797" y="6096000"/>
            <a:ext cx="558820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F3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Гъвкавост, баланс, спокойствие.</a:t>
            </a:r>
            <a:r>
              <a:rPr lang="en-US" sz="1400" dirty="0">
                <a:solidFill>
                  <a:srgbClr val="0A1F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Постелка в парка на изгрев — и тялото и умът ти ще ти благодарят</a:t>
            </a:r>
            <a:r>
              <a:rPr lang="en-US" sz="1000" dirty="0">
                <a:solidFill>
                  <a:srgbClr val="0A1F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6413601" y="3429001"/>
            <a:ext cx="190500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kern="0" spc="40" dirty="0" smtClean="0">
                <a:solidFill>
                  <a:srgbClr val="F5F1E8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</a:t>
            </a:r>
            <a:r>
              <a:rPr lang="bg-BG" sz="2000" kern="0" spc="40" dirty="0">
                <a:solidFill>
                  <a:srgbClr val="F5F1E8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</a:t>
            </a:r>
            <a:r>
              <a:rPr lang="en-US" sz="2000" kern="0" spc="40" dirty="0" smtClean="0">
                <a:solidFill>
                  <a:srgbClr val="F5F1E8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 </a:t>
            </a:r>
            <a:r>
              <a:rPr lang="en-US" sz="2000" kern="0" spc="40" dirty="0">
                <a:solidFill>
                  <a:srgbClr val="F5F1E8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ПЛУВАНЕ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6222797" y="6096000"/>
            <a:ext cx="546140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88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Цяло тяло, нула удар по ставите.</a:t>
            </a:r>
            <a:r>
              <a:rPr lang="en-US" sz="1400" dirty="0">
                <a:solidFill>
                  <a:srgbClr val="0A1F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Море, езеро, открит басейн — лятото е създадено за плуване</a:t>
            </a:r>
            <a:r>
              <a:rPr lang="en-US" sz="1000" dirty="0">
                <a:solidFill>
                  <a:srgbClr val="0A1F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11359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53000" y="3873399"/>
            <a:ext cx="3339999" cy="8253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382000" y="3873399"/>
            <a:ext cx="3467405" cy="8253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953000" y="4826203"/>
            <a:ext cx="3339999" cy="8253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382000" y="4826203"/>
            <a:ext cx="3467405" cy="8253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953000" y="5841797"/>
            <a:ext cx="6858000" cy="635203"/>
          </a:xfrm>
          <a:prstGeom prst="rect">
            <a:avLst/>
          </a:prstGeom>
          <a:solidFill>
            <a:srgbClr val="0F3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0" descr="gen-dedup-82292f86c5107d2b53a57057455c04f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4953000" y="1333805"/>
            <a:ext cx="6985407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0" kern="0" spc="120" dirty="0">
                <a:solidFill>
                  <a:srgbClr val="0F3D2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ХРАНЕНЕ &amp;</a:t>
            </a:r>
            <a:endParaRPr lang="en-US" sz="6000" dirty="0"/>
          </a:p>
          <a:p>
            <a:r>
              <a:rPr lang="en-US" sz="6000" kern="0" spc="120" dirty="0">
                <a:solidFill>
                  <a:srgbClr val="0F3D2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НАВИЦИ</a:t>
            </a:r>
            <a:endParaRPr lang="en-US" sz="6000" dirty="0"/>
          </a:p>
        </p:txBody>
      </p:sp>
      <p:sp>
        <p:nvSpPr>
          <p:cNvPr id="17" name="Text 14"/>
          <p:cNvSpPr txBox="1"/>
          <p:nvPr/>
        </p:nvSpPr>
        <p:spPr>
          <a:xfrm>
            <a:off x="4953000" y="3048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A1F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Спортът сам по себе си не е достатъчен. Тялото има нужда от правилно гориво и постоянство.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207204" y="3968496"/>
            <a:ext cx="2921203" cy="203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kern="0" spc="32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01 · Вода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207203" y="4235501"/>
            <a:ext cx="31205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A1F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Минимум 2 литра дневно. Бутилката винаги с теб.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636203" y="3968496"/>
            <a:ext cx="3048000" cy="203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kern="0" spc="32" dirty="0">
                <a:solidFill>
                  <a:srgbClr val="1E88E5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02 · Зеленчуци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636203" y="4235501"/>
            <a:ext cx="33796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A1F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Половината от чинията — пресни плодове и зеленчуци</a:t>
            </a:r>
            <a:r>
              <a:rPr lang="en-US" sz="800" dirty="0">
                <a:solidFill>
                  <a:srgbClr val="0A1F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5207204" y="4921301"/>
            <a:ext cx="2921203" cy="203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kern="0" spc="32" dirty="0">
                <a:solidFill>
                  <a:srgbClr val="FFC857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03 · Сън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207204" y="5187696"/>
            <a:ext cx="33784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A1F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часа сън — тогава мускулите растат, не във залата</a:t>
            </a:r>
            <a:r>
              <a:rPr lang="en-US" sz="800" dirty="0">
                <a:solidFill>
                  <a:srgbClr val="0A1F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8636203" y="4921301"/>
            <a:ext cx="3048000" cy="203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kern="0" spc="32" dirty="0">
                <a:solidFill>
                  <a:srgbClr val="FF6B6B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04 </a:t>
            </a:r>
            <a:r>
              <a:rPr lang="en-US" sz="1600" kern="0" spc="32" dirty="0" smtClean="0">
                <a:solidFill>
                  <a:srgbClr val="FF6B6B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 </a:t>
            </a:r>
            <a:r>
              <a:rPr lang="en-US" sz="1600" kern="0" spc="32" dirty="0">
                <a:solidFill>
                  <a:srgbClr val="FF6B6B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По-малко екран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636203" y="5187696"/>
            <a:ext cx="304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A1F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Максимум 2 часа социални мрежи извън училище.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5143805" y="6000903"/>
            <a:ext cx="6477000" cy="108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10" dirty="0">
                <a:solidFill>
                  <a:srgbClr val="3DDC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Златното правило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143805" y="6146597"/>
            <a:ext cx="6572707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Постоянството побеждава перфекционизма. 5 пъти по 30 </a:t>
            </a:r>
            <a:r>
              <a:rPr lang="en-US" sz="1067" b="1" dirty="0" err="1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мин</a:t>
            </a:r>
            <a:r>
              <a:rPr lang="en-US" sz="1067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bg-BG" sz="1067" b="1" dirty="0" smtClean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r>
              <a:rPr lang="en-US" sz="1067" b="1" dirty="0" smtClean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67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път по 3 часа.</a:t>
            </a:r>
            <a:endParaRPr lang="en-US" sz="1067" dirty="0"/>
          </a:p>
        </p:txBody>
      </p:sp>
    </p:spTree>
    <p:extLst>
      <p:ext uri="{BB962C8B-B14F-4D97-AF65-F5344CB8AC3E}">
        <p14:creationId xmlns:p14="http://schemas.microsoft.com/office/powerpoint/2010/main" val="3943265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F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581bf53015cc827aeff374d34dacf841.png"/>
          <p:cNvPicPr>
            <a:picLocks noChangeAspect="1"/>
          </p:cNvPicPr>
          <p:nvPr/>
        </p:nvPicPr>
        <p:blipFill>
          <a:blip r:embed="rId3"/>
          <a:srcRect t="-390" b="-390"/>
          <a:stretch/>
        </p:blipFill>
        <p:spPr>
          <a:xfrm>
            <a:off x="5588204" y="3302204"/>
            <a:ext cx="1016203" cy="38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524001" y="4826203"/>
            <a:ext cx="2692603" cy="1295400"/>
          </a:xfrm>
          <a:prstGeom prst="rect">
            <a:avLst/>
          </a:prstGeom>
          <a:solidFill>
            <a:srgbClr val="F5F1E8">
              <a:alpha val="8000"/>
            </a:srgbClr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762805" y="4826203"/>
            <a:ext cx="2692603" cy="1295400"/>
          </a:xfrm>
          <a:prstGeom prst="rect">
            <a:avLst/>
          </a:prstGeom>
          <a:solidFill>
            <a:srgbClr val="F5F1E8">
              <a:alpha val="8000"/>
            </a:srgbClr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01000" y="4826204"/>
            <a:ext cx="2667000" cy="1269797"/>
          </a:xfrm>
          <a:prstGeom prst="rect">
            <a:avLst/>
          </a:prstGeom>
          <a:solidFill>
            <a:srgbClr val="3DDC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gen-dedup-c3707056ef4eac53c47a7cd7181de8d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62713"/>
          </a:xfrm>
          <a:prstGeom prst="rect">
            <a:avLst/>
          </a:prstGeom>
        </p:spPr>
      </p:pic>
      <p:pic>
        <p:nvPicPr>
          <p:cNvPr id="8" name="Image 2" descr="gen-dedup-9c9aafba50e209a841d72e2420a55e7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0" y="-4713"/>
            <a:ext cx="12192000" cy="68580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07797" y="381001"/>
            <a:ext cx="1270407" cy="248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11049000" y="381000"/>
            <a:ext cx="762000" cy="13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867" dirty="0"/>
          </a:p>
        </p:txBody>
      </p:sp>
      <p:sp>
        <p:nvSpPr>
          <p:cNvPr id="11" name="Text 6"/>
          <p:cNvSpPr txBox="1"/>
          <p:nvPr/>
        </p:nvSpPr>
        <p:spPr>
          <a:xfrm>
            <a:off x="507797" y="1269797"/>
            <a:ext cx="10795407" cy="165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67" dirty="0"/>
          </a:p>
        </p:txBody>
      </p:sp>
      <p:sp>
        <p:nvSpPr>
          <p:cNvPr id="12" name="Text 7"/>
          <p:cNvSpPr txBox="1"/>
          <p:nvPr/>
        </p:nvSpPr>
        <p:spPr>
          <a:xfrm>
            <a:off x="507797" y="1714805"/>
            <a:ext cx="11176407" cy="11686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1" kern="0" spc="200" dirty="0">
                <a:solidFill>
                  <a:schemeClr val="tx1">
                    <a:lumMod val="95000"/>
                  </a:schemeClr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СТАНИ TITAN</a:t>
            </a:r>
            <a:endParaRPr lang="en-US" sz="10001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3" name="Text 8"/>
          <p:cNvSpPr txBox="1"/>
          <p:nvPr/>
        </p:nvSpPr>
        <p:spPr>
          <a:xfrm>
            <a:off x="507797" y="3550005"/>
            <a:ext cx="1016020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Не следващата седмица. Не утре.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Днес. Сега. Веднага.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4" name="Text 9"/>
          <p:cNvSpPr txBox="1"/>
          <p:nvPr/>
        </p:nvSpPr>
        <p:spPr>
          <a:xfrm>
            <a:off x="1714805" y="5016399"/>
            <a:ext cx="2286000" cy="4066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3200" dirty="0"/>
          </a:p>
        </p:txBody>
      </p:sp>
      <p:sp>
        <p:nvSpPr>
          <p:cNvPr id="20" name="Text 15"/>
          <p:cNvSpPr txBox="1"/>
          <p:nvPr/>
        </p:nvSpPr>
        <p:spPr>
          <a:xfrm>
            <a:off x="253593" y="5219700"/>
            <a:ext cx="11176407" cy="13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kern="0" spc="360" dirty="0">
                <a:solidFill>
                  <a:schemeClr val="tx1">
                    <a:lumMod val="8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Благодаря за </a:t>
            </a:r>
            <a:r>
              <a:rPr lang="en-US" sz="2800" kern="0" spc="360" dirty="0" err="1">
                <a:solidFill>
                  <a:schemeClr val="tx1">
                    <a:lumMod val="8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вниманието</a:t>
            </a:r>
            <a:r>
              <a:rPr lang="en-US" sz="2800" kern="0" spc="360" dirty="0">
                <a:solidFill>
                  <a:schemeClr val="tx1">
                    <a:lumMod val="8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2800" dirty="0">
              <a:solidFill>
                <a:schemeClr val="tx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6962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Йон">
  <a:themeElements>
    <a:clrScheme name="Зелено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Й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Й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125</TotalTime>
  <Words>499</Words>
  <Application>Microsoft Office PowerPoint</Application>
  <PresentationFormat>Широк екран</PresentationFormat>
  <Paragraphs>106</Paragraphs>
  <Slides>10</Slides>
  <Notes>8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10</vt:i4>
      </vt:variant>
    </vt:vector>
  </HeadingPairs>
  <TitlesOfParts>
    <vt:vector size="18" baseType="lpstr">
      <vt:lpstr>Arial</vt:lpstr>
      <vt:lpstr>Arial Black</vt:lpstr>
      <vt:lpstr>Bebas Neue</vt:lpstr>
      <vt:lpstr>Calibri</vt:lpstr>
      <vt:lpstr>Century Gothic</vt:lpstr>
      <vt:lpstr>Inter</vt:lpstr>
      <vt:lpstr>Wingdings 3</vt:lpstr>
      <vt:lpstr>Йон</vt:lpstr>
      <vt:lpstr>TITAN</vt:lpstr>
      <vt:lpstr>КАКВО Е TITAN?  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TITAN</dc:title>
  <dc:creator>Kamen</dc:creator>
  <cp:lastModifiedBy>Kamen</cp:lastModifiedBy>
  <cp:revision>13</cp:revision>
  <dcterms:created xsi:type="dcterms:W3CDTF">2026-05-19T19:35:11Z</dcterms:created>
  <dcterms:modified xsi:type="dcterms:W3CDTF">2026-06-07T08:58:52Z</dcterms:modified>
</cp:coreProperties>
</file>